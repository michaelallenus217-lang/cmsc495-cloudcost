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77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ny Arista" userId="48c67f97c63a9965" providerId="LiveId" clId="{268CB967-9272-4F30-9221-408F6F2D7A50}"/>
    <pc:docChg chg="modSld">
      <pc:chgData name="Tony Arista" userId="48c67f97c63a9965" providerId="LiveId" clId="{268CB967-9272-4F30-9221-408F6F2D7A50}" dt="2026-01-27T00:35:14.037" v="1" actId="20577"/>
      <pc:docMkLst>
        <pc:docMk/>
      </pc:docMkLst>
      <pc:sldChg chg="modSp mod">
        <pc:chgData name="Tony Arista" userId="48c67f97c63a9965" providerId="LiveId" clId="{268CB967-9272-4F30-9221-408F6F2D7A50}" dt="2026-01-27T00:35:14.037" v="1" actId="20577"/>
        <pc:sldMkLst>
          <pc:docMk/>
          <pc:sldMk cId="540928429" sldId="258"/>
        </pc:sldMkLst>
        <pc:spChg chg="mod">
          <ac:chgData name="Tony Arista" userId="48c67f97c63a9965" providerId="LiveId" clId="{268CB967-9272-4F30-9221-408F6F2D7A50}" dt="2026-01-27T00:35:14.037" v="1" actId="20577"/>
          <ac:spMkLst>
            <pc:docMk/>
            <pc:sldMk cId="540928429" sldId="258"/>
            <ac:spMk id="18" creationId="{6D314E37-AF1A-7EF1-CE48-8717EA3EF61F}"/>
          </ac:spMkLst>
        </pc:spChg>
        <pc:spChg chg="mod">
          <ac:chgData name="Tony Arista" userId="48c67f97c63a9965" providerId="LiveId" clId="{268CB967-9272-4F30-9221-408F6F2D7A50}" dt="2026-01-27T00:35:08.911" v="0" actId="20577"/>
          <ac:spMkLst>
            <pc:docMk/>
            <pc:sldMk cId="540928429" sldId="258"/>
            <ac:spMk id="20" creationId="{9FEC949D-BBC7-1330-BF3D-7763F20E0B5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2159C-09F7-FC42-0A41-2873E03844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CB239-B971-8163-8E43-E69AF0BFF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58CBED-443E-8F90-0713-0E85B4924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9A513-64AA-E91A-257B-B19973E73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4A351-B791-8BFE-0AEE-C8F4DA4AD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34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F0319-A92E-7AF2-C3F8-413128CEC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F7DA6-1ED2-7E07-1592-F3A9B7C88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563A0-49DE-1F75-066C-02BB92C2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699D96-D195-447C-3625-A6D987F8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D3904-F66C-0429-DB8A-0D5AB01D8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33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994C-8C24-4564-B04A-38103BBBD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54D6C7-335C-AE04-CD0C-3B6C70B68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6B8D6-93FD-A6D5-1658-7E73681B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1F368-A499-8C8F-0987-53AAC2461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292F4-E1B9-68F7-E45D-98E0A5D3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37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CA597-D379-477A-D060-C609992EC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27C57-D8F9-72AB-4E07-F6E856DA85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CDFF04-A43A-1738-96B9-ED2ABDEAE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47576-FDC1-5035-AA49-3B730C2E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13A60-E3D0-E1A6-8D0B-7008CB3CE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98C64-EACF-9BE8-0EB5-2EDA2F61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912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1AEF3-6438-4BE0-1CAA-98B81FF7C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ED26F4-709B-DFA9-48C9-6AE514DF3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FAE11D-C45D-DC82-ACCD-D249DBB1D2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12212-39B3-8011-3B31-21FB46EDC0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49A23C-6D7E-DE29-9846-5FEB69A72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EE44C7-6476-11E2-EA58-F60A252EC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887ECA-8FDD-2A44-01EB-8B5A693E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62447C-BA50-6814-A9D3-F156F6E2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49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D9D38-97FC-C084-843C-3599D465A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CF90F2-3741-23E9-5B96-B1E34EBB2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779EDB-D7E6-D676-5665-18FDDBEB6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BB941-0337-96A1-4D92-ABE294E7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809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DA1CA2-C3FF-4224-3446-0689423FC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B1B3B6-785D-E31D-F48F-236D3A11B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DA378-9B81-707F-407E-26162A22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72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9D01-456F-8A89-7F0F-43ED67D97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AC7D4-AFC9-CC88-3026-A8B65F908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0A23A4-19CE-F094-8209-17376F3DF6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9BE4A-19A9-CC47-2DDB-7BA25F52D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0221FA-3707-6D40-E7E9-9B3E0F37C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F7909-10A7-AB9E-FFFB-118C0EFEB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022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6D38A-B6AD-2097-9346-60D219AB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31EE8E-F46B-3888-87C5-615CBD02A7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6AC1F3-AF8E-2D67-0E04-1EF39D9B0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A7CB4C-4720-219F-1526-5AC92E5F3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27DAC-36EF-392F-C0A3-911733929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F0167F-C609-850E-3C54-ED51FD297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3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FD21E-8F3D-2374-70FA-86320AED3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9DB8E6-B504-2F6F-ED65-EFAF5C92D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7E983-EA2B-CB1D-90DE-86F385318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D7272-8D83-D942-A1F2-B48B2C51D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DF41A-0A15-2F12-B900-D8A30D2E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61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74BDC1-C604-F31C-3055-A7A54D1580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EB432-CA79-CE9B-806A-9E1579CCC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FC9FC-43F6-1CF3-16FF-3AFCD6D33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2C3C7-5961-FCF3-2B86-87B03D9A2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5DB8E-E92C-4220-D665-11162A2DD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13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08AF7D-C125-11E5-1E54-DBBFD2CA1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DD53E-2859-EE70-B8BE-B2518D261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C3E68-45DA-650C-6717-F9A23A75AC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3C8CC8-4CCC-4E88-A789-AED3CCAA5B2D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BFD4B-2B92-4A43-D956-290888037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19D9F-B449-CCE9-B9B9-EFCD191D0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84A3E6-FC03-4F02-9DC5-2D38F5A16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0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CBB9B314-0BCE-54AE-C927-0C7A89E53510}"/>
              </a:ext>
            </a:extLst>
          </p:cNvPr>
          <p:cNvGrpSpPr/>
          <p:nvPr/>
        </p:nvGrpSpPr>
        <p:grpSpPr>
          <a:xfrm>
            <a:off x="5067398" y="1554778"/>
            <a:ext cx="2057204" cy="808381"/>
            <a:chOff x="5965372" y="2253264"/>
            <a:chExt cx="2057204" cy="8083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C12E25B-7AAE-2285-0B82-0A694596CBC4}"/>
                </a:ext>
              </a:extLst>
            </p:cNvPr>
            <p:cNvSpPr txBox="1"/>
            <p:nvPr/>
          </p:nvSpPr>
          <p:spPr>
            <a:xfrm>
              <a:off x="5965372" y="2253264"/>
              <a:ext cx="2057204" cy="24622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Clients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0449DC2-A1C1-671E-7322-45A1EABCD101}"/>
                </a:ext>
              </a:extLst>
            </p:cNvPr>
            <p:cNvSpPr txBox="1"/>
            <p:nvPr/>
          </p:nvSpPr>
          <p:spPr>
            <a:xfrm>
              <a:off x="5965372" y="2507647"/>
              <a:ext cx="2057204" cy="5539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45720" rIns="45720" rtlCol="0">
              <a:spAutoFit/>
            </a:bodyPr>
            <a:lstStyle/>
            <a:p>
              <a:r>
                <a:rPr lang="en-US" sz="1000" dirty="0"/>
                <a:t>ClientID: INT (PK)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ClientName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VARCHAR(50)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CreatedDate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DATETIME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63784AD-6694-09B8-DBA0-6CB30E194EFC}"/>
              </a:ext>
            </a:extLst>
          </p:cNvPr>
          <p:cNvGrpSpPr/>
          <p:nvPr/>
        </p:nvGrpSpPr>
        <p:grpSpPr>
          <a:xfrm>
            <a:off x="5933552" y="3669688"/>
            <a:ext cx="2057204" cy="808381"/>
            <a:chOff x="5965372" y="2253264"/>
            <a:chExt cx="2057204" cy="808381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56A9F65-58E9-81A4-000E-6DE051046DD9}"/>
                </a:ext>
              </a:extLst>
            </p:cNvPr>
            <p:cNvSpPr txBox="1"/>
            <p:nvPr/>
          </p:nvSpPr>
          <p:spPr>
            <a:xfrm>
              <a:off x="5965372" y="2253264"/>
              <a:ext cx="2057204" cy="24622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Providers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E8158D9-E3BB-3B1A-BAA9-8F6F484C078E}"/>
                </a:ext>
              </a:extLst>
            </p:cNvPr>
            <p:cNvSpPr txBox="1"/>
            <p:nvPr/>
          </p:nvSpPr>
          <p:spPr>
            <a:xfrm>
              <a:off x="5965372" y="2507647"/>
              <a:ext cx="2057204" cy="55399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45720" rIns="45720" rtlCol="0">
              <a:spAutoFit/>
            </a:bodyPr>
            <a:lstStyle/>
            <a:p>
              <a:r>
                <a:rPr lang="en-US" sz="1000" dirty="0" err="1"/>
                <a:t>ProviderID</a:t>
              </a:r>
              <a:r>
                <a:rPr lang="en-US" sz="1000" dirty="0"/>
                <a:t>: INT (PK)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ProviderName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VARCHAR(50)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CreatedDate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DATETIME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DCB83BC-56FC-2883-9DC6-ABC355A93710}"/>
              </a:ext>
            </a:extLst>
          </p:cNvPr>
          <p:cNvGrpSpPr/>
          <p:nvPr/>
        </p:nvGrpSpPr>
        <p:grpSpPr>
          <a:xfrm>
            <a:off x="5067398" y="5256857"/>
            <a:ext cx="2057204" cy="1270046"/>
            <a:chOff x="5965372" y="2253264"/>
            <a:chExt cx="2057204" cy="127004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9B8D72-0031-D991-6C27-7D10A2B41661}"/>
                </a:ext>
              </a:extLst>
            </p:cNvPr>
            <p:cNvSpPr txBox="1"/>
            <p:nvPr/>
          </p:nvSpPr>
          <p:spPr>
            <a:xfrm>
              <a:off x="5965372" y="2253264"/>
              <a:ext cx="2057204" cy="24622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Services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F06D04-E990-51B1-0B15-2D156BC30444}"/>
                </a:ext>
              </a:extLst>
            </p:cNvPr>
            <p:cNvSpPr txBox="1"/>
            <p:nvPr/>
          </p:nvSpPr>
          <p:spPr>
            <a:xfrm>
              <a:off x="5965372" y="2507647"/>
              <a:ext cx="2057204" cy="101566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45720" rIns="45720" rtlCol="0">
              <a:spAutoFit/>
            </a:bodyPr>
            <a:lstStyle/>
            <a:p>
              <a:r>
                <a:rPr lang="en-US" sz="1000" dirty="0" err="1"/>
                <a:t>ServiceID</a:t>
              </a:r>
              <a:r>
                <a:rPr lang="en-US" sz="1000" dirty="0"/>
                <a:t>: INT (PK)</a:t>
              </a:r>
            </a:p>
            <a:p>
              <a:r>
                <a:rPr lang="en-US" sz="1000" dirty="0" err="1"/>
                <a:t>ProviderID</a:t>
              </a:r>
              <a:r>
                <a:rPr lang="en-US" sz="1000" dirty="0"/>
                <a:t>: INT (FK)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ServiceName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VARCHAR(50)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ServiceType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VARCHAR(50) </a:t>
              </a:r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ServiceCost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DECIMAL(10,2)</a:t>
              </a:r>
            </a:p>
            <a:p>
              <a:r>
                <a:rPr lang="en-US" sz="1000" dirty="0" err="1"/>
                <a:t>CreatedDate</a:t>
              </a:r>
              <a:r>
                <a:rPr lang="en-US" sz="1000" dirty="0"/>
                <a:t>: DATETIME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893F0-D0B6-C730-EC18-A4DAEAE809D9}"/>
              </a:ext>
            </a:extLst>
          </p:cNvPr>
          <p:cNvGrpSpPr/>
          <p:nvPr/>
        </p:nvGrpSpPr>
        <p:grpSpPr>
          <a:xfrm>
            <a:off x="8211621" y="2535645"/>
            <a:ext cx="2057204" cy="1577822"/>
            <a:chOff x="5965372" y="2253264"/>
            <a:chExt cx="2057204" cy="157782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FEC949D-BBC7-1330-BF3D-7763F20E0B5E}"/>
                </a:ext>
              </a:extLst>
            </p:cNvPr>
            <p:cNvSpPr txBox="1"/>
            <p:nvPr/>
          </p:nvSpPr>
          <p:spPr>
            <a:xfrm>
              <a:off x="5965372" y="2253264"/>
              <a:ext cx="2057204" cy="24622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Usages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2CC31F-0FC8-65F5-19B3-D001082DD783}"/>
                </a:ext>
              </a:extLst>
            </p:cNvPr>
            <p:cNvSpPr txBox="1"/>
            <p:nvPr/>
          </p:nvSpPr>
          <p:spPr>
            <a:xfrm>
              <a:off x="5965372" y="2507647"/>
              <a:ext cx="2057204" cy="13234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45720" rIns="45720" rtlCol="0">
              <a:spAutoFit/>
            </a:bodyPr>
            <a:lstStyle/>
            <a:p>
              <a:r>
                <a:rPr lang="en-US" sz="1000" dirty="0" err="1"/>
                <a:t>UsageID</a:t>
              </a:r>
              <a:r>
                <a:rPr lang="en-US" sz="1000" dirty="0"/>
                <a:t>: INT (PK)</a:t>
              </a:r>
            </a:p>
            <a:p>
              <a:r>
                <a:rPr lang="en-US" sz="1000" dirty="0"/>
                <a:t>ClientID: INT (FK)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ServiceID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INT (FK)</a:t>
              </a:r>
              <a:endParaRPr lang="en-US" sz="1000" dirty="0"/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UsageDate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DATE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UsageTime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TIME(3)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UnitsUsed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DECIMAL(10,2)</a:t>
              </a:r>
            </a:p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TotalCost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DECIMAL(10,2)</a:t>
              </a:r>
            </a:p>
            <a:p>
              <a:r>
                <a:rPr lang="en-US" sz="1000" dirty="0" err="1"/>
                <a:t>CreatedDate</a:t>
              </a:r>
              <a:r>
                <a:rPr lang="en-US" sz="1000" dirty="0"/>
                <a:t>: DATETIME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966FE49-FC9E-F5E5-F5E9-A161ADF31633}"/>
              </a:ext>
            </a:extLst>
          </p:cNvPr>
          <p:cNvGrpSpPr/>
          <p:nvPr/>
        </p:nvGrpSpPr>
        <p:grpSpPr>
          <a:xfrm>
            <a:off x="3313022" y="3284810"/>
            <a:ext cx="2057204" cy="1116157"/>
            <a:chOff x="5965372" y="2253264"/>
            <a:chExt cx="2057204" cy="1116157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671DC7-C1E8-B7D2-3F0F-3D2F52647B13}"/>
                </a:ext>
              </a:extLst>
            </p:cNvPr>
            <p:cNvSpPr txBox="1"/>
            <p:nvPr/>
          </p:nvSpPr>
          <p:spPr>
            <a:xfrm>
              <a:off x="5965372" y="2253264"/>
              <a:ext cx="2057204" cy="24622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Invoices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459E656-62EA-63C6-0A69-CADA8D46C570}"/>
                </a:ext>
              </a:extLst>
            </p:cNvPr>
            <p:cNvSpPr txBox="1"/>
            <p:nvPr/>
          </p:nvSpPr>
          <p:spPr>
            <a:xfrm>
              <a:off x="5965372" y="2507647"/>
              <a:ext cx="2057204" cy="8617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45720" rIns="45720" rtlCol="0">
              <a:spAutoFit/>
            </a:bodyPr>
            <a:lstStyle/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InvoiceID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INT (PK)</a:t>
              </a:r>
            </a:p>
            <a:p>
              <a:r>
                <a:rPr lang="en-US" sz="1000" dirty="0"/>
                <a:t>ClientID: INT (FK)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1000" dirty="0" err="1"/>
                <a:t>InvoiceDate</a:t>
              </a:r>
              <a:r>
                <a:rPr lang="en-US" sz="1000" dirty="0"/>
                <a:t>: DATE</a:t>
              </a:r>
            </a:p>
            <a:p>
              <a:r>
                <a:rPr lang="en-US" sz="1000" dirty="0" err="1"/>
                <a:t>InvoiceAmount</a:t>
              </a:r>
              <a:r>
                <a:rPr lang="en-US" sz="1000" dirty="0"/>
                <a:t>: DECIMAL(10,2)</a:t>
              </a:r>
            </a:p>
            <a:p>
              <a:r>
                <a:rPr lang="en-US" sz="1000" dirty="0" err="1"/>
                <a:t>CreatedDate</a:t>
              </a:r>
              <a:r>
                <a:rPr lang="en-US" sz="1000" dirty="0"/>
                <a:t>: DATETIME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91C09700-D7C5-A32B-A10D-9BD3E41974DA}"/>
              </a:ext>
            </a:extLst>
          </p:cNvPr>
          <p:cNvSpPr txBox="1"/>
          <p:nvPr/>
        </p:nvSpPr>
        <p:spPr>
          <a:xfrm>
            <a:off x="6198620" y="4500496"/>
            <a:ext cx="67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Provide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6AFD5784-C288-37D6-8377-ACD565EBA127}"/>
              </a:ext>
            </a:extLst>
          </p:cNvPr>
          <p:cNvCxnSpPr>
            <a:cxnSpLocks/>
            <a:stCxn id="6" idx="2"/>
            <a:endCxn id="24" idx="0"/>
          </p:cNvCxnSpPr>
          <p:nvPr/>
        </p:nvCxnSpPr>
        <p:spPr>
          <a:xfrm rot="5400000">
            <a:off x="4757987" y="1946796"/>
            <a:ext cx="921651" cy="1754376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CCB0197D-152E-090E-E5CB-2184D7BE38B1}"/>
              </a:ext>
            </a:extLst>
          </p:cNvPr>
          <p:cNvCxnSpPr>
            <a:cxnSpLocks/>
            <a:stCxn id="5" idx="3"/>
            <a:endCxn id="20" idx="0"/>
          </p:cNvCxnSpPr>
          <p:nvPr/>
        </p:nvCxnSpPr>
        <p:spPr>
          <a:xfrm>
            <a:off x="7124602" y="1677889"/>
            <a:ext cx="2115621" cy="857756"/>
          </a:xfrm>
          <a:prstGeom prst="bentConnector2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3D38419-8AAB-8421-795E-8FC07EE01C1C}"/>
              </a:ext>
            </a:extLst>
          </p:cNvPr>
          <p:cNvCxnSpPr>
            <a:cxnSpLocks/>
            <a:stCxn id="10" idx="2"/>
            <a:endCxn id="13" idx="0"/>
          </p:cNvCxnSpPr>
          <p:nvPr/>
        </p:nvCxnSpPr>
        <p:spPr>
          <a:xfrm rot="5400000">
            <a:off x="6139683" y="4434386"/>
            <a:ext cx="778788" cy="866154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1EA07B0F-6596-66FE-6A7B-FB44BE98C1E1}"/>
              </a:ext>
            </a:extLst>
          </p:cNvPr>
          <p:cNvCxnSpPr>
            <a:cxnSpLocks/>
            <a:stCxn id="13" idx="3"/>
            <a:endCxn id="21" idx="2"/>
          </p:cNvCxnSpPr>
          <p:nvPr/>
        </p:nvCxnSpPr>
        <p:spPr>
          <a:xfrm flipV="1">
            <a:off x="7124602" y="4113467"/>
            <a:ext cx="2115621" cy="1266501"/>
          </a:xfrm>
          <a:prstGeom prst="bentConnector2">
            <a:avLst/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555CDEDF-EC2A-1089-C7D4-9845A6595D40}"/>
              </a:ext>
            </a:extLst>
          </p:cNvPr>
          <p:cNvSpPr txBox="1"/>
          <p:nvPr/>
        </p:nvSpPr>
        <p:spPr>
          <a:xfrm>
            <a:off x="8727081" y="4594993"/>
            <a:ext cx="5131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Used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023754-57C9-9947-FDB4-765CBF70BD32}"/>
              </a:ext>
            </a:extLst>
          </p:cNvPr>
          <p:cNvSpPr txBox="1"/>
          <p:nvPr/>
        </p:nvSpPr>
        <p:spPr>
          <a:xfrm>
            <a:off x="7801767" y="1422275"/>
            <a:ext cx="67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Uses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BE73AA-5B9B-533F-273B-0AC7DAB5F2B5}"/>
              </a:ext>
            </a:extLst>
          </p:cNvPr>
          <p:cNvSpPr txBox="1"/>
          <p:nvPr/>
        </p:nvSpPr>
        <p:spPr>
          <a:xfrm>
            <a:off x="4539924" y="2828560"/>
            <a:ext cx="67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Charged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CE246B2-C49B-553E-6E2D-7292C1307A10}"/>
              </a:ext>
            </a:extLst>
          </p:cNvPr>
          <p:cNvGrpSpPr/>
          <p:nvPr/>
        </p:nvGrpSpPr>
        <p:grpSpPr>
          <a:xfrm>
            <a:off x="7206605" y="1582697"/>
            <a:ext cx="65839" cy="173122"/>
            <a:chOff x="7206605" y="1062341"/>
            <a:chExt cx="65839" cy="173122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620CF828-EC60-1D1E-1696-015F0E4A0F6E}"/>
                </a:ext>
              </a:extLst>
            </p:cNvPr>
            <p:cNvCxnSpPr>
              <a:cxnSpLocks/>
            </p:cNvCxnSpPr>
            <p:nvPr/>
          </p:nvCxnSpPr>
          <p:spPr>
            <a:xfrm>
              <a:off x="7206605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026016F-7E29-493A-A425-BE79613A8C97}"/>
                </a:ext>
              </a:extLst>
            </p:cNvPr>
            <p:cNvCxnSpPr>
              <a:cxnSpLocks/>
            </p:cNvCxnSpPr>
            <p:nvPr/>
          </p:nvCxnSpPr>
          <p:spPr>
            <a:xfrm>
              <a:off x="7272444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341915B-59C1-6C8B-8300-45AAC5566B33}"/>
              </a:ext>
            </a:extLst>
          </p:cNvPr>
          <p:cNvGrpSpPr/>
          <p:nvPr/>
        </p:nvGrpSpPr>
        <p:grpSpPr>
          <a:xfrm>
            <a:off x="9179014" y="2382173"/>
            <a:ext cx="122416" cy="147769"/>
            <a:chOff x="6402679" y="546269"/>
            <a:chExt cx="122416" cy="147769"/>
          </a:xfrm>
        </p:grpSpPr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8FCFF54-7BD2-4528-D0C3-DBAE5E5569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2679" y="546269"/>
              <a:ext cx="61208" cy="1477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B1A366C-63DA-3993-6B05-3DA67A007FD4}"/>
                </a:ext>
              </a:extLst>
            </p:cNvPr>
            <p:cNvCxnSpPr>
              <a:cxnSpLocks/>
            </p:cNvCxnSpPr>
            <p:nvPr/>
          </p:nvCxnSpPr>
          <p:spPr>
            <a:xfrm>
              <a:off x="6463887" y="546269"/>
              <a:ext cx="61208" cy="1477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4" name="Oval 73">
            <a:extLst>
              <a:ext uri="{FF2B5EF4-FFF2-40B4-BE49-F238E27FC236}">
                <a16:creationId xmlns:a16="http://schemas.microsoft.com/office/drawing/2014/main" id="{AA0EC10F-CF39-1E48-415A-E6DBDF15751A}"/>
              </a:ext>
            </a:extLst>
          </p:cNvPr>
          <p:cNvSpPr/>
          <p:nvPr/>
        </p:nvSpPr>
        <p:spPr>
          <a:xfrm>
            <a:off x="9153661" y="2233846"/>
            <a:ext cx="173122" cy="17312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1947C34-4080-A570-724B-734071933940}"/>
              </a:ext>
            </a:extLst>
          </p:cNvPr>
          <p:cNvGrpSpPr/>
          <p:nvPr/>
        </p:nvGrpSpPr>
        <p:grpSpPr>
          <a:xfrm rot="5400000">
            <a:off x="6923897" y="4491109"/>
            <a:ext cx="65839" cy="173122"/>
            <a:chOff x="7206605" y="1062341"/>
            <a:chExt cx="65839" cy="173122"/>
          </a:xfrm>
        </p:grpSpPr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C102BEA-AA8D-9F2B-AA2E-DF961B253C64}"/>
                </a:ext>
              </a:extLst>
            </p:cNvPr>
            <p:cNvCxnSpPr>
              <a:cxnSpLocks/>
            </p:cNvCxnSpPr>
            <p:nvPr/>
          </p:nvCxnSpPr>
          <p:spPr>
            <a:xfrm>
              <a:off x="7206605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D67A5561-73D8-9416-CC83-1AA8CC60D119}"/>
                </a:ext>
              </a:extLst>
            </p:cNvPr>
            <p:cNvCxnSpPr>
              <a:cxnSpLocks/>
            </p:cNvCxnSpPr>
            <p:nvPr/>
          </p:nvCxnSpPr>
          <p:spPr>
            <a:xfrm>
              <a:off x="7272444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05B5D20-DC27-4503-8FB4-0B1853F940CC}"/>
              </a:ext>
            </a:extLst>
          </p:cNvPr>
          <p:cNvGrpSpPr/>
          <p:nvPr/>
        </p:nvGrpSpPr>
        <p:grpSpPr>
          <a:xfrm>
            <a:off x="6034792" y="5100450"/>
            <a:ext cx="122416" cy="147769"/>
            <a:chOff x="6402679" y="546269"/>
            <a:chExt cx="122416" cy="147769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0E5D8E4E-0A6B-B906-595E-A91E78F4D4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2679" y="546269"/>
              <a:ext cx="61208" cy="1477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DBD6E592-0F7B-0242-B4F8-6E230D39B6A4}"/>
                </a:ext>
              </a:extLst>
            </p:cNvPr>
            <p:cNvCxnSpPr>
              <a:cxnSpLocks/>
            </p:cNvCxnSpPr>
            <p:nvPr/>
          </p:nvCxnSpPr>
          <p:spPr>
            <a:xfrm>
              <a:off x="6463887" y="546269"/>
              <a:ext cx="61208" cy="1477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65EF18E-4F18-D1A3-C2F6-BF015C2FBE64}"/>
              </a:ext>
            </a:extLst>
          </p:cNvPr>
          <p:cNvGrpSpPr/>
          <p:nvPr/>
        </p:nvGrpSpPr>
        <p:grpSpPr>
          <a:xfrm>
            <a:off x="4280415" y="3136547"/>
            <a:ext cx="122416" cy="147769"/>
            <a:chOff x="6402679" y="546269"/>
            <a:chExt cx="122416" cy="147769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D8B3D0E3-7B23-E96F-18AC-BA72DE253D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2679" y="546269"/>
              <a:ext cx="61208" cy="1477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E2855EB1-15B5-0243-02EA-BF530921AD5C}"/>
                </a:ext>
              </a:extLst>
            </p:cNvPr>
            <p:cNvCxnSpPr>
              <a:cxnSpLocks/>
            </p:cNvCxnSpPr>
            <p:nvPr/>
          </p:nvCxnSpPr>
          <p:spPr>
            <a:xfrm>
              <a:off x="6463887" y="546269"/>
              <a:ext cx="61208" cy="1477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Oval 85">
            <a:extLst>
              <a:ext uri="{FF2B5EF4-FFF2-40B4-BE49-F238E27FC236}">
                <a16:creationId xmlns:a16="http://schemas.microsoft.com/office/drawing/2014/main" id="{BA792E54-8FC2-BC90-EBE6-87B7A94734A1}"/>
              </a:ext>
            </a:extLst>
          </p:cNvPr>
          <p:cNvSpPr/>
          <p:nvPr/>
        </p:nvSpPr>
        <p:spPr>
          <a:xfrm>
            <a:off x="4255062" y="2988220"/>
            <a:ext cx="173122" cy="17312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0" name="Group 89">
            <a:extLst>
              <a:ext uri="{FF2B5EF4-FFF2-40B4-BE49-F238E27FC236}">
                <a16:creationId xmlns:a16="http://schemas.microsoft.com/office/drawing/2014/main" id="{1939025B-4988-6738-9F3B-44C426FF5B8D}"/>
              </a:ext>
            </a:extLst>
          </p:cNvPr>
          <p:cNvGrpSpPr/>
          <p:nvPr/>
        </p:nvGrpSpPr>
        <p:grpSpPr>
          <a:xfrm>
            <a:off x="7206605" y="5293952"/>
            <a:ext cx="65839" cy="173122"/>
            <a:chOff x="7206605" y="1062341"/>
            <a:chExt cx="65839" cy="173122"/>
          </a:xfrm>
        </p:grpSpPr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3E118C9-F3EC-134B-D3AB-4C0F7856F5B5}"/>
                </a:ext>
              </a:extLst>
            </p:cNvPr>
            <p:cNvCxnSpPr>
              <a:cxnSpLocks/>
            </p:cNvCxnSpPr>
            <p:nvPr/>
          </p:nvCxnSpPr>
          <p:spPr>
            <a:xfrm>
              <a:off x="7206605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12003A3B-BB2B-2A3C-43FC-4262742254BC}"/>
                </a:ext>
              </a:extLst>
            </p:cNvPr>
            <p:cNvCxnSpPr>
              <a:cxnSpLocks/>
            </p:cNvCxnSpPr>
            <p:nvPr/>
          </p:nvCxnSpPr>
          <p:spPr>
            <a:xfrm>
              <a:off x="7272444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" name="Group 92">
            <a:extLst>
              <a:ext uri="{FF2B5EF4-FFF2-40B4-BE49-F238E27FC236}">
                <a16:creationId xmlns:a16="http://schemas.microsoft.com/office/drawing/2014/main" id="{1AE7929F-E9D2-F402-8E82-3629139FA63F}"/>
              </a:ext>
            </a:extLst>
          </p:cNvPr>
          <p:cNvGrpSpPr/>
          <p:nvPr/>
        </p:nvGrpSpPr>
        <p:grpSpPr>
          <a:xfrm rot="10800000">
            <a:off x="9179014" y="4116970"/>
            <a:ext cx="122416" cy="147769"/>
            <a:chOff x="6402679" y="546269"/>
            <a:chExt cx="122416" cy="147769"/>
          </a:xfrm>
        </p:grpSpPr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DF67B748-212F-2388-8CE3-F071F7BCBE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2679" y="546269"/>
              <a:ext cx="61208" cy="1477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015B2850-29EC-B156-B62D-96AEA144703C}"/>
                </a:ext>
              </a:extLst>
            </p:cNvPr>
            <p:cNvCxnSpPr>
              <a:cxnSpLocks/>
            </p:cNvCxnSpPr>
            <p:nvPr/>
          </p:nvCxnSpPr>
          <p:spPr>
            <a:xfrm>
              <a:off x="6463887" y="546269"/>
              <a:ext cx="61208" cy="147769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A62B0852-360F-C8D5-0959-EB2510BE9CA1}"/>
              </a:ext>
            </a:extLst>
          </p:cNvPr>
          <p:cNvCxnSpPr>
            <a:stCxn id="20" idx="1"/>
            <a:endCxn id="24" idx="3"/>
          </p:cNvCxnSpPr>
          <p:nvPr/>
        </p:nvCxnSpPr>
        <p:spPr>
          <a:xfrm rot="10800000" flipV="1">
            <a:off x="5370227" y="2658755"/>
            <a:ext cx="2841395" cy="749165"/>
          </a:xfrm>
          <a:prstGeom prst="bentConnector3">
            <a:avLst>
              <a:gd name="adj1" fmla="val 51541"/>
            </a:avLst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10C10322-9904-E779-DD83-92CCD3081511}"/>
              </a:ext>
            </a:extLst>
          </p:cNvPr>
          <p:cNvSpPr txBox="1"/>
          <p:nvPr/>
        </p:nvSpPr>
        <p:spPr>
          <a:xfrm>
            <a:off x="4610733" y="484986"/>
            <a:ext cx="29705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 Cost Database 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Entity Relationship Diagram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4A3123-5EB9-7921-26D0-FFB34229B90D}"/>
              </a:ext>
            </a:extLst>
          </p:cNvPr>
          <p:cNvGrpSpPr/>
          <p:nvPr/>
        </p:nvGrpSpPr>
        <p:grpSpPr>
          <a:xfrm rot="5400000">
            <a:off x="6063205" y="2431211"/>
            <a:ext cx="65839" cy="173122"/>
            <a:chOff x="7206605" y="1062341"/>
            <a:chExt cx="65839" cy="173122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58CA86E-A09D-84C8-F741-8152C0522CD5}"/>
                </a:ext>
              </a:extLst>
            </p:cNvPr>
            <p:cNvCxnSpPr>
              <a:cxnSpLocks/>
            </p:cNvCxnSpPr>
            <p:nvPr/>
          </p:nvCxnSpPr>
          <p:spPr>
            <a:xfrm>
              <a:off x="7206605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ADE4A2E-DF9E-445F-527B-B46EE5F41DEF}"/>
                </a:ext>
              </a:extLst>
            </p:cNvPr>
            <p:cNvCxnSpPr>
              <a:cxnSpLocks/>
            </p:cNvCxnSpPr>
            <p:nvPr/>
          </p:nvCxnSpPr>
          <p:spPr>
            <a:xfrm>
              <a:off x="7272444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C7E4FC-D83B-19A0-12BF-017EC0EAEA2C}"/>
              </a:ext>
            </a:extLst>
          </p:cNvPr>
          <p:cNvGrpSpPr/>
          <p:nvPr/>
        </p:nvGrpSpPr>
        <p:grpSpPr>
          <a:xfrm>
            <a:off x="1892325" y="1554209"/>
            <a:ext cx="2057204" cy="1423934"/>
            <a:chOff x="5965372" y="2253264"/>
            <a:chExt cx="2057204" cy="142393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D314E37-AF1A-7EF1-CE48-8717EA3EF61F}"/>
                </a:ext>
              </a:extLst>
            </p:cNvPr>
            <p:cNvSpPr txBox="1"/>
            <p:nvPr/>
          </p:nvSpPr>
          <p:spPr>
            <a:xfrm>
              <a:off x="5965372" y="2253264"/>
              <a:ext cx="2057204" cy="246221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Budgets</a:t>
              </a:r>
              <a:endPara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23183C-CC7A-E6A6-3A09-41BD6717782F}"/>
                </a:ext>
              </a:extLst>
            </p:cNvPr>
            <p:cNvSpPr txBox="1"/>
            <p:nvPr/>
          </p:nvSpPr>
          <p:spPr>
            <a:xfrm>
              <a:off x="5965372" y="2507647"/>
              <a:ext cx="2057204" cy="11695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lIns="45720" rIns="45720" rtlCol="0">
              <a:spAutoFit/>
            </a:bodyPr>
            <a:lstStyle/>
            <a:p>
              <a:r>
                <a:rPr lang="en-US" sz="1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BudgetID</a:t>
              </a:r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: INT (PK)</a:t>
              </a:r>
            </a:p>
            <a:p>
              <a:r>
                <a:rPr lang="en-US" sz="1000" dirty="0"/>
                <a:t>ClientID: INT (FK)</a:t>
              </a:r>
              <a:endParaRPr lang="en-US" sz="1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n-US" sz="1000" dirty="0" err="1"/>
                <a:t>BudgetAmount</a:t>
              </a:r>
              <a:r>
                <a:rPr lang="en-US" sz="1000" dirty="0"/>
                <a:t>: DECIMAL(10,2)</a:t>
              </a:r>
            </a:p>
            <a:p>
              <a:r>
                <a:rPr lang="en-US" sz="1000" dirty="0" err="1"/>
                <a:t>MonthlyLimit</a:t>
              </a:r>
              <a:r>
                <a:rPr lang="en-US" sz="1000" dirty="0"/>
                <a:t>: DECIMAL(10,2)</a:t>
              </a:r>
            </a:p>
            <a:p>
              <a:r>
                <a:rPr lang="en-US" sz="1000" dirty="0" err="1"/>
                <a:t>AlertThreshold:DECIMAL</a:t>
              </a:r>
              <a:r>
                <a:rPr lang="en-US" sz="1000" dirty="0"/>
                <a:t>(10,2)</a:t>
              </a:r>
            </a:p>
            <a:p>
              <a:r>
                <a:rPr lang="en-US" sz="1000" dirty="0" err="1"/>
                <a:t>AlertEnabled</a:t>
              </a:r>
              <a:r>
                <a:rPr lang="en-US" sz="1000" dirty="0"/>
                <a:t>: BIT</a:t>
              </a:r>
            </a:p>
            <a:p>
              <a:r>
                <a:rPr lang="en-US" sz="1000" dirty="0" err="1"/>
                <a:t>CreatedDate</a:t>
              </a:r>
              <a:r>
                <a:rPr lang="en-US" sz="1000" dirty="0"/>
                <a:t>: DATETIME</a:t>
              </a:r>
            </a:p>
          </p:txBody>
        </p:sp>
      </p:grp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17150871-4560-CF02-1B06-B112D4AE8A03}"/>
              </a:ext>
            </a:extLst>
          </p:cNvPr>
          <p:cNvCxnSpPr>
            <a:cxnSpLocks/>
            <a:stCxn id="5" idx="1"/>
            <a:endCxn id="18" idx="3"/>
          </p:cNvCxnSpPr>
          <p:nvPr/>
        </p:nvCxnSpPr>
        <p:spPr>
          <a:xfrm rot="10800000">
            <a:off x="3949530" y="1677321"/>
            <a:ext cx="1117869" cy="569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58A1F9FB-0C91-ADD2-0017-06908964E551}"/>
              </a:ext>
            </a:extLst>
          </p:cNvPr>
          <p:cNvCxnSpPr>
            <a:cxnSpLocks/>
            <a:stCxn id="24" idx="1"/>
            <a:endCxn id="22" idx="2"/>
          </p:cNvCxnSpPr>
          <p:nvPr/>
        </p:nvCxnSpPr>
        <p:spPr>
          <a:xfrm rot="10800000">
            <a:off x="2920928" y="2978143"/>
            <a:ext cx="392095" cy="429778"/>
          </a:xfrm>
          <a:prstGeom prst="bentConnector2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E836386-84CF-9594-5EF4-85EC503FAE7F}"/>
              </a:ext>
            </a:extLst>
          </p:cNvPr>
          <p:cNvSpPr txBox="1"/>
          <p:nvPr/>
        </p:nvSpPr>
        <p:spPr>
          <a:xfrm>
            <a:off x="4273032" y="1422274"/>
            <a:ext cx="67163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Given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BA7A5A4-E8DE-D3CE-2B6A-D52E02DF6FB3}"/>
              </a:ext>
            </a:extLst>
          </p:cNvPr>
          <p:cNvGrpSpPr/>
          <p:nvPr/>
        </p:nvGrpSpPr>
        <p:grpSpPr>
          <a:xfrm>
            <a:off x="4935721" y="1582697"/>
            <a:ext cx="65839" cy="173122"/>
            <a:chOff x="7206605" y="1062341"/>
            <a:chExt cx="65839" cy="173122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2760613-3AA9-0D3D-BC8E-7B3772E48FD3}"/>
                </a:ext>
              </a:extLst>
            </p:cNvPr>
            <p:cNvCxnSpPr>
              <a:cxnSpLocks/>
            </p:cNvCxnSpPr>
            <p:nvPr/>
          </p:nvCxnSpPr>
          <p:spPr>
            <a:xfrm>
              <a:off x="7206605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98B14FE-FAAE-5CB1-CAB7-103E07BFFEEA}"/>
                </a:ext>
              </a:extLst>
            </p:cNvPr>
            <p:cNvCxnSpPr>
              <a:cxnSpLocks/>
            </p:cNvCxnSpPr>
            <p:nvPr/>
          </p:nvCxnSpPr>
          <p:spPr>
            <a:xfrm>
              <a:off x="7272444" y="1062341"/>
              <a:ext cx="0" cy="17312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69273C3-4A57-A687-D4A0-9E3D85D14B49}"/>
              </a:ext>
            </a:extLst>
          </p:cNvPr>
          <p:cNvCxnSpPr>
            <a:cxnSpLocks/>
          </p:cNvCxnSpPr>
          <p:nvPr/>
        </p:nvCxnSpPr>
        <p:spPr>
          <a:xfrm>
            <a:off x="4039339" y="1590758"/>
            <a:ext cx="0" cy="17312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92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21641</TotalTime>
  <Words>182</Words>
  <Application>Microsoft Office PowerPoint</Application>
  <PresentationFormat>Widescreen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 Arista</dc:creator>
  <cp:lastModifiedBy>Tony Arista</cp:lastModifiedBy>
  <cp:revision>6</cp:revision>
  <dcterms:created xsi:type="dcterms:W3CDTF">2025-01-20T19:24:32Z</dcterms:created>
  <dcterms:modified xsi:type="dcterms:W3CDTF">2026-01-27T00:35:17Z</dcterms:modified>
</cp:coreProperties>
</file>